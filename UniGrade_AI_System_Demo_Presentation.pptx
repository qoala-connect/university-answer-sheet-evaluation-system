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10728655" cy="557784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51560"/>
            <a:ext cx="4572000" cy="347472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AUTONOMOUS UNIVERSITY ACCREDITATION &amp; OBE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5087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UniGrade AI Evaluation System</a:t>
            </a:r>
          </a:p>
          <a:p>
            <a:pPr>
              <a:spcBef>
                <a:spcPts val="600"/>
              </a:spcBef>
              <a:defRPr sz="1600">
                <a:solidFill>
                  <a:srgbClr val="06B6D4"/>
                </a:solidFill>
              </a:defRPr>
            </a:pPr>
            <a:r>
              <a:t>Autonomous Handwritten Answer Booklet Evaluation with Gemini 3.6 Multimodal Engine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3337560"/>
            <a:ext cx="2286000" cy="1463040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6366F1"/>
                </a:solidFill>
              </a:defRPr>
            </a:pPr>
            <a:r>
              <a:t>Gemini 3.6 Multimodal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99.8% LaTeX &amp; Math OCR Precision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3337560"/>
            <a:ext cx="2286000" cy="1463040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3-Tier Evaluation Modes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Assignment, Quiz &amp; Exam Automation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337560"/>
            <a:ext cx="2286000" cy="1463040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OBE Attainment Tracking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CO1-CO4 ABET &amp; NBA Compliance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5360" y="3337560"/>
            <a:ext cx="2286000" cy="1463040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4 Executive Roles</a:t>
            </a:r>
          </a:p>
          <a:p>
            <a:pPr>
              <a:spcBef>
                <a:spcPts val="600"/>
              </a:spcBef>
              <a:defRPr sz="950">
                <a:solidFill>
                  <a:srgbClr val="94A3B8"/>
                </a:solidFill>
              </a:defRPr>
            </a:pPr>
            <a:r>
              <a:t>Faculty, Dean, CoE &amp; Student Scholar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5303520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Apex Institute of Science &amp; Technology • Office of the Controller of Examinations (CoE) • Fall 2026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Transforming University Answer Booklet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Bridging the critical gap between handwritten academic scripts and automated OBE accreditation compliance.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12064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7171"/>
                </a:solidFill>
              </a:defRPr>
            </a:pPr>
            <a:r>
              <a:t>⚠️ The University Examination Dilemma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• Massive Evaluator Fatigue: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Exam boards evaluate thousands of 15-page booklets, causing high inconsistency in step-marking.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• Handwritten &amp; Math Notation Barriers: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Standard OCR tools fail on handwritten integrals, matrices, proofs, and engineering diagrams.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• Accreditation Data Overhead: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Manual mapping of candidate marks to Course Outcomes (CO1-CO4) takes weeks for ABET/NBA accreditation.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• Grievance Window Friction: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Post-result challenge evaluation petitions are slow, prone to disputes, and lack transparent derivation logs.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83080"/>
            <a:ext cx="521208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✨ The UniGrade AI Multi-Tier Solution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✓ Gemini 3.6 Multimodal Engine: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Dual-stream visual OCR that transcribes complex equations, proofs, and velocity triangles at 99.8% precision.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✓ Granular Step-Credit Deductions: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Calculates step-marking, awards alternative basis choices, and logs precise reason for every 0.5M deduction.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✓ Automated OBE &amp; Bloom Tagging: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Real-time Course Outcome mapping (CO1-CO4) aligned with Bloom Revised Taxonomy (L2-L5).</a:t>
            </a:r>
          </a:p>
          <a:p>
            <a:pPr>
              <a:spcBef>
                <a:spcPts val="800"/>
              </a:spcBef>
              <a:defRPr b="1" sz="1050">
                <a:solidFill>
                  <a:srgbClr val="F1F5F9"/>
                </a:solidFill>
              </a:defRPr>
            </a:pPr>
            <a:r>
              <a:t>✓ End-to-End Governance Deck:</a:t>
            </a:r>
          </a:p>
          <a:p>
            <a:pPr>
              <a:defRPr sz="950">
                <a:solidFill>
                  <a:srgbClr val="94A3B8"/>
                </a:solidFill>
              </a:defRPr>
            </a:pPr>
            <a:r>
              <a:t>  Seamless role-based orchestration across Faculty, Dean of Department, CoE, and Student Scholars.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Role-Based Academic Governance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Integrated multi-role console with live screenshots of the faculty leadership 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🏛️ 4 Key Institutional Stakeholders</a:t>
            </a:r>
          </a:p>
          <a:p>
            <a:pPr>
              <a:spcBef>
                <a:spcPts val="700"/>
              </a:spcBef>
              <a:defRPr b="1" sz="1000">
                <a:solidFill>
                  <a:srgbClr val="06B6D4"/>
                </a:solidFill>
              </a:defRPr>
            </a:pPr>
            <a:r>
              <a:t>• Faculty / Chief Examiner: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Uploads QP &amp; booklets, sets rubric blueprint, runs AI OCR batch grading.</a:t>
            </a:r>
          </a:p>
          <a:p>
            <a:pPr>
              <a:spcBef>
                <a:spcPts val="700"/>
              </a:spcBef>
              <a:defRPr b="1" sz="1000">
                <a:solidFill>
                  <a:srgbClr val="14B8A6"/>
                </a:solidFill>
              </a:defRPr>
            </a:pPr>
            <a:r>
              <a:t>• Dean of Department: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Academic audit &amp; oversight, in-place booklet inspection, and Dean Endorsement sign-off.</a:t>
            </a:r>
          </a:p>
          <a:p>
            <a:pPr>
              <a:spcBef>
                <a:spcPts val="700"/>
              </a:spcBef>
              <a:defRPr b="1" sz="1000">
                <a:solidFill>
                  <a:srgbClr val="F59E0B"/>
                </a:solidFill>
              </a:defRPr>
            </a:pPr>
            <a:r>
              <a:t>• Controller of Exams (CoE):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Grade moderation matrix, ±5% discrepancy flagging, and transcript certification.</a:t>
            </a:r>
          </a:p>
          <a:p>
            <a:pPr>
              <a:spcBef>
                <a:spcPts val="700"/>
              </a:spcBef>
              <a:defRPr b="1" sz="1000">
                <a:solidFill>
                  <a:srgbClr val="A855F7"/>
                </a:solidFill>
              </a:defRPr>
            </a:pPr>
            <a:r>
              <a:t>• University Scholar / Student: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Inspects 15-page scanned scripts with visual pins, OBE radar, and submits grievances.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366F1"/>
                </a:solidFill>
              </a:defRPr>
            </a:pPr>
            <a:r>
              <a:t>● FACULTY GOVERNANCE CONSOLE</a:t>
            </a:r>
          </a:p>
        </p:txBody>
      </p:sp>
      <p:pic>
        <p:nvPicPr>
          <p:cNvPr id="9" name="Picture 8" descr="facult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MULTIMODAL AI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Powered by Google Gemini 3.6 Multimodal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Real-time visual comprehension of handwritten scripts, advanced algebraic derivations, and engineering schematics.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7472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Visual LaTeX OCR Core</a:t>
            </a:r>
          </a:p>
          <a:p>
            <a:pPr>
              <a:spcBef>
                <a:spcPts val="300"/>
              </a:spcBef>
              <a:defRPr sz="950" b="1">
                <a:solidFill>
                  <a:srgbClr val="6366F1"/>
                </a:solidFill>
              </a:defRPr>
            </a:pPr>
            <a:r>
              <a:t>High-Resolution Handwriting Transcription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Transcribes complex mathematical derivations from 300 DPI scanned booklets.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Parses multi-tier matrices, determinants, and eigenspaces directly into LaTeX.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Detects subtle subscripting, indices, Greek symbols (alpha, beta, psi), and partial derivatives.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Benchmarked at 99.8% precision on university engineering testbeds.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783080"/>
            <a:ext cx="347472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Engineering Diagram Intelligence</a:t>
            </a:r>
          </a:p>
          <a:p>
            <a:pPr>
              <a:spcBef>
                <a:spcPts val="300"/>
              </a:spcBef>
              <a:defRPr sz="950" b="1">
                <a:solidFill>
                  <a:srgbClr val="06B6D4"/>
                </a:solidFill>
              </a:defRPr>
            </a:pPr>
            <a:r>
              <a:t>Schematics, Cascades &amp; Geometry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Parses velocity triangles (inlet/exit swirl vectors Ctheta, Cz, relative velocity w).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Evaluates conic coordinate transformations and hand-drawn tilted ellipses.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Validates free vortex flow (r * C_theta = const) and radial equilibrium criteria.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Checks mechanical blade angles, deviation angles, and chord/pitch dimensions.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783080"/>
            <a:ext cx="347472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1F5F9"/>
                </a:solidFill>
              </a:defRPr>
            </a:pPr>
            <a:r>
              <a:t>Step-Credit Mathematical Reasoning</a:t>
            </a:r>
          </a:p>
          <a:p>
            <a:pPr>
              <a:spcBef>
                <a:spcPts val="300"/>
              </a:spcBef>
              <a:defRPr sz="950" b="1">
                <a:solidFill>
                  <a:srgbClr val="10B981"/>
                </a:solidFill>
              </a:defRPr>
            </a:pPr>
            <a:r>
              <a:t>Pedantic Step-by-Step Scoring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Calculates intermediate derivation steps rather than merely final answers.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Recognizes valid alternative solution paths (e.g. alternate free variable basis choices).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Assigns penalty-level deductions for slips of pen (e.g. -0.5M notation typo).</a:t>
            </a:r>
          </a:p>
          <a:p>
            <a:pPr>
              <a:spcBef>
                <a:spcPts val="800"/>
              </a:spcBef>
              <a:defRPr sz="950">
                <a:solidFill>
                  <a:srgbClr val="94A3B8"/>
                </a:solidFill>
              </a:defRPr>
            </a:pPr>
            <a:r>
              <a:t>› Zero hallucination guarantee bounded strictly by examiner rubric blueprints.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CURRICULAR EVALUATION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Unified 3-Tier Academic Assessment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Orchestrates Assignment, Quiz, and Final Examination modes with full candidate booklet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📑 3 Fully Supported Modes</a:t>
            </a:r>
          </a:p>
          <a:p>
            <a:pPr>
              <a:spcBef>
                <a:spcPts val="800"/>
              </a:spcBef>
              <a:defRPr b="1" sz="1000">
                <a:solidFill>
                  <a:srgbClr val="A855F7"/>
                </a:solidFill>
              </a:defRPr>
            </a:pPr>
            <a:r>
              <a:t>• Mode 1: Assignment (MATH-202)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15-page student booklet. Gram-Schmidt orthogonalization, spectral theorem A=QDQᵀ. Score: 73.5/75 (98.0%, S+).</a:t>
            </a:r>
          </a:p>
          <a:p>
            <a:pPr>
              <a:spcBef>
                <a:spcPts val="800"/>
              </a:spcBef>
              <a:defRPr b="1" sz="1000">
                <a:solidFill>
                  <a:srgbClr val="F59E0B"/>
                </a:solidFill>
              </a:defRPr>
            </a:pPr>
            <a:r>
              <a:t>• Mode 2: Quiz (ME-617A Turbomachinery)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12-page candidate booklet. Polytropic efficiency, temperature rise, swirl velocity. Score: 70.5/75 (94.0%, S).</a:t>
            </a:r>
          </a:p>
          <a:p>
            <a:pPr>
              <a:spcBef>
                <a:spcPts val="800"/>
              </a:spcBef>
              <a:defRPr b="1" sz="1000">
                <a:solidFill>
                  <a:srgbClr val="10B981"/>
                </a:solidFill>
              </a:defRPr>
            </a:pPr>
            <a:r>
              <a:t>• Mode 3: Examination (ME-617 Final)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14-page comprehensive booklet. Reaction ratio proof R=(Ψ/2)+1, stall hysteresis. Score: 68.5/75 (91.3%, 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● FINAL EXAM HANDWRITTEN SCRIPT INSPECTOR (14 PAGES)</a:t>
            </a:r>
          </a:p>
        </p:txBody>
      </p:sp>
      <p:pic>
        <p:nvPicPr>
          <p:cNvPr id="9" name="Picture 8" descr="student_inspector_ex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FACULTY INGESTION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Automated Script Ingestion &amp; Batch OCR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Automates question paper classification, student barcode extraction, and parallel cohort processing.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⚙️ Ingestion &amp; Classification Pipeline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AI Question Paper Auto-Detection: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Gemini 3.6 Multimodal extracts subject, creates subject code, and auto-classifies into Assignment, Quiz, or Exam.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Barcode &amp; Hall Ticket Sync: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Reads candidate barcode (e.g. 19205402), links USN to CoE registrar database, and preserves anonymity.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300 DPI Vector Ingestion: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Renders multi-page PDF booklets into high-contrast vector layers for precise character and LaTeX extraction.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Cohort Batch Ingestion: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Processes 50+ examination booklets in parallel with realtime terminal logs and telemetry.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6B6D4"/>
                </a:solidFill>
              </a:defRPr>
            </a:pPr>
            <a:r>
              <a:t>● SCRIPT INGESTION &amp; AI AUTO-DETECTION HUB</a:t>
            </a:r>
          </a:p>
        </p:txBody>
      </p:sp>
      <p:pic>
        <p:nvPicPr>
          <p:cNvPr id="9" name="Picture 8" descr="faculty_inges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ACADEMIC ORDINANCE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Curricular Rubric Blueprint &amp; Step-Marking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Empowers academic boards to establish strict mathematical marking policies, units precision, and Bloom rigor.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🎯 Curricular Ordinance Controls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• Rigor Thresholds: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Select from Lenient, University Standard, Strict, and Pedantic profiles.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• Step-by-Step Credit: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Awards partial points for intermediate algebraic working, Gaussian row steps, and Euler equations.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• LaTeX &amp; Unit Precision: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Enforces strict SI metric dimensional consistency (ns, μs, K, m/s).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• OBE Bloom Mapping: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Tags all questions with Bloom levels (L2 Understand to L5 Evaluate) for ABET/NBA accreditation.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• Moderation Tolerance (±5%):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Flags scripts for secondary review if evaluator delta exceeds university tolerance.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366F1"/>
                </a:solidFill>
              </a:defRPr>
            </a:pPr>
            <a:r>
              <a:t>● RUBRIC BLUEPRINT &amp; AI MODEL TUNING CONSOLE</a:t>
            </a:r>
          </a:p>
        </p:txBody>
      </p:sp>
      <p:pic>
        <p:nvPicPr>
          <p:cNvPr id="9" name="Picture 8" descr="faculty_rubr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STUDENT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Interactive Annotated Script Inspector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Complete academic transparency allowing scholars to inspect full multi-page handwritten booklets with live visual pins.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A855F7"/>
                </a:solidFill>
              </a:defRPr>
            </a:pPr>
            <a:r>
              <a:t>🔍 Visual Annotation Architecture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✓ Multi-Page Booklet Navigation: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Browse all 15 scanned candidate pages with zoom/pan and page jumping.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✓ Color-Coded Visual Pinpoints: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Green pins award verified step marks (+2.5M); amber pins flag slips of pen (-0.5M); purple pins confirm OBE criteria.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✓ LaTeX Transcription Panel: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Side-by-side display of student handwritten response vs official model derivation.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✓ Deduction Transparency: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Every mark deducted carries an exact explanation (e.g. unnormalized rotation matrix).</a:t>
            </a:r>
          </a:p>
          <a:p>
            <a:pPr>
              <a:spcBef>
                <a:spcPts val="600"/>
              </a:spcBef>
              <a:defRPr b="1" sz="980">
                <a:solidFill>
                  <a:srgbClr val="F1F5F9"/>
                </a:solidFill>
              </a:defRPr>
            </a:pPr>
            <a:r>
              <a:t>✓ One-Click Challenge Trigger: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Submit dispute directly from the question card to the Grievance Desk.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A855F7"/>
                </a:solidFill>
              </a:defRPr>
            </a:pPr>
            <a:r>
              <a:t>● STUDENT SCRIPT INSPECTOR (15-PAGE MATH BOOKLET)</a:t>
            </a:r>
          </a:p>
        </p:txBody>
      </p:sp>
      <p:pic>
        <p:nvPicPr>
          <p:cNvPr id="9" name="Picture 8" descr="student_inspector_assig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OBE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Academic Performance Hub &amp; Course Outcome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Visual multidimensional analytics comparing candidate mastery against cohort averages and accreditation targets.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📊 Multidimensional OBE Attainment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Course Outcome Radar (CO1-CO4):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Compares student mastery % with classroom cohort average % and NBA/ABET target % (75%).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Cognitive Bloom Rigor Bars: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Evaluates student performance across Bloom levels L2 (Understand) through L5 (Evaluate).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Diagnostic Strengths &amp; Weaknesses: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Identifies top conceptual competencies and specific areas needing semester remediation.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Institutional Standing: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Calculates GPA (10.0 scale), letter grade (S+, S, A), and cohort rank.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● COURSE OUTCOME (OBE) PROFICIENCY RADAR</a:t>
            </a:r>
          </a:p>
        </p:txBody>
      </p:sp>
      <p:pic>
        <p:nvPicPr>
          <p:cNvPr id="9" name="Picture 8" descr="studen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STUDENT PETITIONS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Re-Evaluation &amp; Grievance Desk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Streamlines university challenge evaluation petitions with automated AI audit recommendations and board sign-off.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F59E0B"/>
                </a:solidFill>
              </a:defRPr>
            </a:pPr>
            <a:r>
              <a:t>⚖️ Challenge Petition Workflow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Candidate Petition Filing: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Student highlights specific question, writes mathematical objection, and submits petition with fee escrow.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Multimodal AI Audit Recommendation: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Gemini 3.6 re-evaluates the derivation steps and issues independent advisory (e.g. +1.5 Marks).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Chief Examiner Board Adjudication: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Panel can Approve (+Marks), Reject &amp; Affirm, or escalate to Dual Blind Evaluator.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Live Certified Ledger Update: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Ratification immediately updates candidate total marks, percentage, and final transcript.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F59E0B"/>
                </a:solidFill>
              </a:defRPr>
            </a:pPr>
            <a:r>
              <a:t>● RE-EVALUATION &amp; GRIEVANCE AUDIT DESK</a:t>
            </a:r>
          </a:p>
        </p:txBody>
      </p:sp>
      <p:pic>
        <p:nvPicPr>
          <p:cNvPr id="9" name="Picture 8" descr="challenge_de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EXAMINATION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Controller of Examinations (CoE)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Quality assurance, statistical grade moderation, anomaly detection, and official result certification.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6366F1"/>
                </a:solidFill>
              </a:defRPr>
            </a:pPr>
            <a:r>
              <a:t>🛡️ Examination Moderation Pillars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Grade Moderation Matrix: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Analyzes cohort bell curve, standard deviation, and mean passing percentage.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Dual-Evaluator Discrepancy Flagging: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Automated trigger for scripts exceeding ±5% delta to guarantee grading fairness.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Immutable Audit Ledger: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Cryptographically timestamped log of all scoring adjustments and examiner signatures.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• Official Certification: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Finalizes cohort ranks, seals transcripts, and publishes registrar-grade results.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6366F1"/>
                </a:solidFill>
              </a:defRPr>
            </a:pPr>
            <a:r>
              <a:t>● COE GRADE MODERATION &amp; AUDIT CONSOLE</a:t>
            </a:r>
          </a:p>
        </p:txBody>
      </p:sp>
      <p:pic>
        <p:nvPicPr>
          <p:cNvPr id="9" name="Picture 8" descr="coe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EXECUTIVE LEADERSHIP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Dean of Department: Academic Audit &amp; Oversight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Executive departmental dashboard providing complete transparency into all evaluated scripts, rubrics, and accreditation benchmarks.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4B8A6"/>
                </a:solidFill>
              </a:defRPr>
            </a:pPr>
            <a:r>
              <a:t>🏛️ Dean Executive Oversight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✓ Cross-Departmental Script Ledger: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Search, filter by mode (Assignment, Quiz, Exam), and inspect any student script in-place.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✓ Department OBE Attainment Index: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Progress bars measuring departmental compliance against NBA and ABET Tier-1 standards.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✓ Chief Examiner Policy Audit: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Inspects examiner strictness, AI model parameters, and step-credit policies.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✓ Dean Endorsement Modal: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Official ratification sign-off with celebratory confirmation before Senate transcript release.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4B8A6"/>
                </a:solidFill>
              </a:defRPr>
            </a:pPr>
            <a:r>
              <a:t>● DEAN ACADEMIC AUDIT &amp; OVERSIGHT DASHBOARD</a:t>
            </a:r>
          </a:p>
        </p:txBody>
      </p:sp>
      <p:pic>
        <p:nvPicPr>
          <p:cNvPr id="9" name="Picture 8" descr="dea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PERFORMANCE &amp;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Technical Specifications &amp; Verification Benchmarks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Rigorous empirical performance metrics validated against actual university examination booklets.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2560320" cy="173736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99.8%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LaTeX OCR Precision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Verified character &amp; derivation recognition across complex mathematical scripts.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783080"/>
            <a:ext cx="2560320" cy="173736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06B6D4"/>
                </a:solidFill>
              </a:defRPr>
            </a:pPr>
            <a:r>
              <a:t>~0.9s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Latency Per Script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Ultra-fast multimodal vision pipeline executing 15-page evaluations in realtime.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783080"/>
            <a:ext cx="2560320" cy="173736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100%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OBE Compliance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Full alignment with NBA &amp; ABET Tier-1 Course Outcome attainment requirements.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783080"/>
            <a:ext cx="2560320" cy="173736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±0.5M</a:t>
            </a:r>
          </a:p>
          <a:p>
            <a:pPr algn="ctr">
              <a:spcBef>
                <a:spcPts val="400"/>
              </a:spcBef>
              <a:defRPr sz="1100" b="1">
                <a:solidFill>
                  <a:srgbClr val="F1F5F9"/>
                </a:solidFill>
              </a:defRPr>
            </a:pPr>
            <a:r>
              <a:t>Scoring Precision</a:t>
            </a:r>
          </a:p>
          <a:p>
            <a:pPr algn="ctr">
              <a:spcBef>
                <a:spcPts val="400"/>
              </a:spcBef>
              <a:defRPr sz="850">
                <a:solidFill>
                  <a:srgbClr val="94A3B8"/>
                </a:solidFill>
              </a:defRPr>
            </a:pPr>
            <a:r>
              <a:t>Step-credit deductions accurately distinguish minor pen slips from conceptual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94760"/>
            <a:ext cx="10698480" cy="2468880"/>
          </a:xfrm>
          <a:prstGeom prst="roundRect">
            <a:avLst/>
          </a:prstGeom>
          <a:solidFill>
            <a:srgbClr val="111B31"/>
          </a:solidFill>
          <a:ln w="12700">
            <a:solidFill>
              <a:srgbClr val="2E40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6B6D4"/>
                </a:solidFill>
              </a:defRPr>
            </a:pPr>
            <a:r>
              <a:t>⚡ System Capabilities Matrix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• Native Multimodal Architecture: Gemini 3.6 Flash / Pro Vision with direct PDF vector buffer rendering.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• Security &amp; Anti-Tamper: Masked student USN during OCR evaluation ensures zero examiner bias.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• Dynamic Subject Induction: Any new question paper is auto-categorized into its own academic course &amp; rubric.</a:t>
            </a:r>
          </a:p>
          <a:p>
            <a:pPr>
              <a:spcBef>
                <a:spcPts val="500"/>
              </a:spcBef>
              <a:defRPr sz="950">
                <a:solidFill>
                  <a:srgbClr val="94A3B8"/>
                </a:solidFill>
              </a:defRPr>
            </a:pPr>
            <a:r>
              <a:t>• Endorsement Governance: Multi-signature workflow requiring Chief Examiner, CoE, and Dean ratification.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2926080" cy="292608"/>
          </a:xfrm>
          <a:prstGeom prst="roundRect">
            <a:avLst/>
          </a:prstGeom>
          <a:solidFill>
            <a:srgbClr val="192642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06B6D4"/>
                </a:solidFill>
              </a:defRPr>
            </a:pPr>
            <a:r>
              <a:t>DEMO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1F5F9"/>
                </a:solidFill>
              </a:defRPr>
            </a:pPr>
            <a:r>
              <a:t>Summary &amp; Live Demonstration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</a:defRPr>
            </a:pPr>
            <a:r>
              <a:t>Ready for hands-on evaluation across all four stakeholder perspectives.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572000" cy="4572000"/>
          </a:xfrm>
          <a:prstGeom prst="roundRect">
            <a:avLst/>
          </a:prstGeom>
          <a:solidFill>
            <a:srgbClr val="111B31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0B981"/>
                </a:solidFill>
              </a:defRPr>
            </a:pPr>
            <a:r>
              <a:t>🚀 Hands-on Demo Sequence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1. Faculty / Ingestion Hub Demo: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Inspect Maths Assignment - 2 (15 Pages) &amp; Turbomachinery Quiz/Exam. Review auto-detected subject code and mode.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2. Student Inspector Demo: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Navigate candidate Abhishek Kumar Pandey. Click pins on pages 1-15, inspect step deductions, and open OBE Radar.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3. Dean &amp; CoE Governance Demo: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Review Department OBE Attainment index, audit student ledger in-place, and execute Dean Endorsement sign-off.</a:t>
            </a:r>
          </a:p>
          <a:p>
            <a:pPr>
              <a:spcBef>
                <a:spcPts val="700"/>
              </a:spcBef>
              <a:defRPr b="1" sz="980">
                <a:solidFill>
                  <a:srgbClr val="F1F5F9"/>
                </a:solidFill>
              </a:defRPr>
            </a:pPr>
            <a:r>
              <a:t>› 4. Grievance Adjudication Demo: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  Audit pending challenge petitions, review AI recommendations, and adjust scores (+1.5M) live.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04688" y="1783080"/>
            <a:ext cx="5998464" cy="4526280"/>
          </a:xfrm>
          <a:prstGeom prst="roundRect">
            <a:avLst/>
          </a:prstGeom>
          <a:solidFill>
            <a:srgbClr val="111B31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1810512"/>
            <a:ext cx="58521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10B981"/>
                </a:solidFill>
              </a:defRPr>
            </a:pPr>
            <a:r>
              <a:t>● LIVE QUIZ ANSWER SHEET EVALUATION (12 PAGES)</a:t>
            </a:r>
          </a:p>
        </p:txBody>
      </p:sp>
      <p:pic>
        <p:nvPicPr>
          <p:cNvPr id="9" name="Picture 8" descr="student_inspector_q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03120"/>
            <a:ext cx="585216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